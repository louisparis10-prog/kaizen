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972800" cy="7324725"/>
  <p:notesSz cx="7324725" cy="10972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1D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AF7F4D-460E-4EC1-ADC7-FC60B5F8E2B2}" v="1" dt="2026-07-21T09:31:54.0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2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hony Ricordeau" userId="02c2dc19-d3b8-4db5-8801-8670d9458d43" providerId="ADAL" clId="{94D97F5E-4ABB-421C-BA2A-FC446CE6E9E5}"/>
    <pc:docChg chg="undo custSel modSld">
      <pc:chgData name="Anthony Ricordeau" userId="02c2dc19-d3b8-4db5-8801-8670d9458d43" providerId="ADAL" clId="{94D97F5E-4ABB-421C-BA2A-FC446CE6E9E5}" dt="2026-07-21T09:32:07.319" v="14" actId="1076"/>
      <pc:docMkLst>
        <pc:docMk/>
      </pc:docMkLst>
      <pc:sldChg chg="addSp delSp modSp mod">
        <pc:chgData name="Anthony Ricordeau" userId="02c2dc19-d3b8-4db5-8801-8670d9458d43" providerId="ADAL" clId="{94D97F5E-4ABB-421C-BA2A-FC446CE6E9E5}" dt="2026-07-21T09:32:07.319" v="14" actId="1076"/>
        <pc:sldMkLst>
          <pc:docMk/>
          <pc:sldMk cId="0" sldId="256"/>
        </pc:sldMkLst>
        <pc:spChg chg="mod">
          <ac:chgData name="Anthony Ricordeau" userId="02c2dc19-d3b8-4db5-8801-8670d9458d43" providerId="ADAL" clId="{94D97F5E-4ABB-421C-BA2A-FC446CE6E9E5}" dt="2026-07-21T09:31:38.301" v="9" actId="207"/>
          <ac:spMkLst>
            <pc:docMk/>
            <pc:sldMk cId="0" sldId="256"/>
            <ac:spMk id="2" creationId="{00000000-0000-0000-0000-000000000000}"/>
          </ac:spMkLst>
        </pc:spChg>
        <pc:spChg chg="mod">
          <ac:chgData name="Anthony Ricordeau" userId="02c2dc19-d3b8-4db5-8801-8670d9458d43" providerId="ADAL" clId="{94D97F5E-4ABB-421C-BA2A-FC446CE6E9E5}" dt="2026-07-06T08:04:36.732" v="7" actId="404"/>
          <ac:spMkLst>
            <pc:docMk/>
            <pc:sldMk cId="0" sldId="256"/>
            <ac:spMk id="12" creationId="{00000000-0000-0000-0000-000000000000}"/>
          </ac:spMkLst>
        </pc:spChg>
        <pc:spChg chg="add del">
          <ac:chgData name="Anthony Ricordeau" userId="02c2dc19-d3b8-4db5-8801-8670d9458d43" providerId="ADAL" clId="{94D97F5E-4ABB-421C-BA2A-FC446CE6E9E5}" dt="2026-07-06T08:04:04.806" v="3" actId="21"/>
          <ac:spMkLst>
            <pc:docMk/>
            <pc:sldMk cId="0" sldId="256"/>
            <ac:spMk id="52" creationId="{00000000-0000-0000-0000-000000000000}"/>
          </ac:spMkLst>
        </pc:spChg>
        <pc:spChg chg="mod">
          <ac:chgData name="Anthony Ricordeau" userId="02c2dc19-d3b8-4db5-8801-8670d9458d43" providerId="ADAL" clId="{94D97F5E-4ABB-421C-BA2A-FC446CE6E9E5}" dt="2026-07-06T08:04:17.954" v="4" actId="14100"/>
          <ac:spMkLst>
            <pc:docMk/>
            <pc:sldMk cId="0" sldId="256"/>
            <ac:spMk id="57" creationId="{D8AFD50A-D29F-3FF9-1D61-6B8A4B5D16D0}"/>
          </ac:spMkLst>
        </pc:spChg>
        <pc:picChg chg="add mod">
          <ac:chgData name="Anthony Ricordeau" userId="02c2dc19-d3b8-4db5-8801-8670d9458d43" providerId="ADAL" clId="{94D97F5E-4ABB-421C-BA2A-FC446CE6E9E5}" dt="2026-07-21T09:32:07.319" v="14" actId="1076"/>
          <ac:picMkLst>
            <pc:docMk/>
            <pc:sldMk cId="0" sldId="256"/>
            <ac:picMk id="13" creationId="{8D502F30-F847-B2CD-7E5F-360FDFF8D74F}"/>
          </ac:picMkLst>
        </pc:picChg>
        <pc:picChg chg="del">
          <ac:chgData name="Anthony Ricordeau" userId="02c2dc19-d3b8-4db5-8801-8670d9458d43" providerId="ADAL" clId="{94D97F5E-4ABB-421C-BA2A-FC446CE6E9E5}" dt="2026-07-21T09:30:51.931" v="8" actId="478"/>
          <ac:picMkLst>
            <pc:docMk/>
            <pc:sldMk cId="0" sldId="256"/>
            <ac:picMk id="60" creationId="{2C8A7E69-BF39-2BD3-2976-FEFE895F60A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8601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10753344" cy="914400"/>
          </a:xfrm>
          <a:prstGeom prst="rect">
            <a:avLst/>
          </a:prstGeom>
          <a:solidFill>
            <a:srgbClr val="171D8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assets/sw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34" y="307209"/>
            <a:ext cx="1122490" cy="518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7979" y="116840"/>
            <a:ext cx="3255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CHASSE AUX MUDAS</a:t>
            </a:r>
            <a:endParaRPr lang="en-US" sz="2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des gaspillages</a:t>
            </a:r>
            <a:endParaRPr lang="en-US" sz="2200" dirty="0"/>
          </a:p>
        </p:txBody>
      </p: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8A5045BC-B87F-955D-F263-51B240BCED8C}"/>
              </a:ext>
            </a:extLst>
          </p:cNvPr>
          <p:cNvGrpSpPr/>
          <p:nvPr/>
        </p:nvGrpSpPr>
        <p:grpSpPr>
          <a:xfrm>
            <a:off x="5074920" y="238125"/>
            <a:ext cx="4152207" cy="566928"/>
            <a:chOff x="5541264" y="210312"/>
            <a:chExt cx="4274820" cy="566928"/>
          </a:xfrm>
        </p:grpSpPr>
        <p:sp>
          <p:nvSpPr>
            <p:cNvPr id="5" name="Shape 2"/>
            <p:cNvSpPr/>
            <p:nvPr/>
          </p:nvSpPr>
          <p:spPr>
            <a:xfrm>
              <a:off x="5541264" y="210312"/>
              <a:ext cx="3977640" cy="566928"/>
            </a:xfrm>
            <a:prstGeom prst="roundRect">
              <a:avLst>
                <a:gd name="adj" fmla="val 8065"/>
              </a:avLst>
            </a:prstGeom>
            <a:solidFill>
              <a:srgbClr val="FFFFFF"/>
            </a:solidFill>
            <a:ln w="12700">
              <a:solidFill>
                <a:srgbClr val="B9C4CE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Text 3"/>
            <p:cNvSpPr/>
            <p:nvPr/>
          </p:nvSpPr>
          <p:spPr>
            <a:xfrm>
              <a:off x="5650992" y="256032"/>
              <a:ext cx="24688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71D8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Date : </a:t>
              </a:r>
              <a:r>
                <a:rPr lang="en-US" sz="1050" dirty="0">
                  <a:solidFill>
                    <a:srgbClr val="8FA0A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________________</a:t>
              </a:r>
              <a:endParaRPr lang="en-US" sz="105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7438644" y="256032"/>
              <a:ext cx="23774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71D8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Secteur / Zone : </a:t>
              </a:r>
              <a:r>
                <a:rPr lang="en-US" sz="1050" dirty="0">
                  <a:solidFill>
                    <a:srgbClr val="8FA0A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________________</a:t>
              </a:r>
              <a:endParaRPr lang="en-US" sz="105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5650992" y="512064"/>
              <a:ext cx="24688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71D8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Équipe : </a:t>
              </a:r>
              <a:r>
                <a:rPr lang="en-US" sz="1050" dirty="0">
                  <a:solidFill>
                    <a:srgbClr val="8FA0A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________________</a:t>
              </a:r>
              <a:endParaRPr lang="en-US" sz="105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7438644" y="539496"/>
              <a:ext cx="23774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71D8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Animateur : </a:t>
              </a:r>
              <a:r>
                <a:rPr lang="en-US" sz="1050" dirty="0">
                  <a:solidFill>
                    <a:srgbClr val="8FA0A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________________</a:t>
              </a:r>
              <a:endParaRPr lang="en-US" sz="1050" dirty="0"/>
            </a:p>
          </p:txBody>
        </p:sp>
      </p:grpSp>
      <p:sp>
        <p:nvSpPr>
          <p:cNvPr id="10" name="Shape 7"/>
          <p:cNvSpPr/>
          <p:nvPr/>
        </p:nvSpPr>
        <p:spPr>
          <a:xfrm>
            <a:off x="109728" y="1170432"/>
            <a:ext cx="3913632" cy="292608"/>
          </a:xfrm>
          <a:prstGeom prst="roundRect">
            <a:avLst>
              <a:gd name="adj" fmla="val 12500"/>
            </a:avLst>
          </a:prstGeom>
          <a:solidFill>
            <a:srgbClr val="171D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201168" y="1170432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PLAN DU SECTEUR / ZONE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9728" y="1517904"/>
            <a:ext cx="3888000" cy="4302253"/>
          </a:xfrm>
          <a:prstGeom prst="rect">
            <a:avLst/>
          </a:prstGeom>
          <a:solidFill>
            <a:srgbClr val="FFFFFF"/>
          </a:solidFill>
          <a:ln w="34925">
            <a:solidFill>
              <a:srgbClr val="B9C4CE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fr-FR" dirty="0">
                <a:ln>
                  <a:solidFill>
                    <a:srgbClr val="171D8F"/>
                  </a:solidFill>
                </a:ln>
                <a:solidFill>
                  <a:schemeClr val="accent1">
                    <a:lumMod val="20000"/>
                    <a:lumOff val="80000"/>
                  </a:schemeClr>
                </a:solidFill>
              </a:rPr>
              <a:t>(</a:t>
            </a:r>
            <a:r>
              <a:rPr lang="fr-FR" sz="1200" dirty="0">
                <a:ln>
                  <a:solidFill>
                    <a:srgbClr val="171D8F"/>
                  </a:solidFill>
                </a:ln>
                <a:solidFill>
                  <a:schemeClr val="accent1">
                    <a:lumMod val="20000"/>
                    <a:lumOff val="80000"/>
                  </a:schemeClr>
                </a:solidFill>
              </a:rPr>
              <a:t>Plan de la zone à Intégrer</a:t>
            </a:r>
            <a:r>
              <a:rPr lang="fr-FR" dirty="0">
                <a:ln>
                  <a:solidFill>
                    <a:srgbClr val="171D8F"/>
                  </a:solidFill>
                </a:ln>
                <a:solidFill>
                  <a:schemeClr val="accent1">
                    <a:lumMod val="20000"/>
                    <a:lumOff val="80000"/>
                  </a:schemeClr>
                </a:solidFill>
              </a:rPr>
              <a:t>)</a:t>
            </a:r>
          </a:p>
        </p:txBody>
      </p:sp>
      <p:sp>
        <p:nvSpPr>
          <p:cNvPr id="14" name="Shape 10"/>
          <p:cNvSpPr/>
          <p:nvPr/>
        </p:nvSpPr>
        <p:spPr>
          <a:xfrm>
            <a:off x="4151376" y="1170432"/>
            <a:ext cx="6711696" cy="292608"/>
          </a:xfrm>
          <a:prstGeom prst="roundRect">
            <a:avLst>
              <a:gd name="adj" fmla="val 12500"/>
            </a:avLst>
          </a:prstGeom>
          <a:solidFill>
            <a:srgbClr val="171D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1"/>
          <p:cNvSpPr/>
          <p:nvPr/>
        </p:nvSpPr>
        <p:spPr>
          <a:xfrm>
            <a:off x="4242816" y="1170432"/>
            <a:ext cx="6528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RELEVÉ DES GASPILLAGES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9077878"/>
              </p:ext>
            </p:extLst>
          </p:nvPr>
        </p:nvGraphicFramePr>
        <p:xfrm>
          <a:off x="4151376" y="1517904"/>
          <a:ext cx="6711696" cy="4320540"/>
        </p:xfrm>
        <a:graphic>
          <a:graphicData uri="http://schemas.openxmlformats.org/drawingml/2006/table">
            <a:tbl>
              <a:tblPr/>
              <a:tblGrid>
                <a:gridCol w="653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2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95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4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80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3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N° Pastille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de Muda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(voir légende)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 / Localisation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(Préciser)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Problématique observée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(Description du gaspillage)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 = faible / 5 = fort)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(Réf.)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8B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A9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E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8B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44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C4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7" name="Shape 12"/>
          <p:cNvSpPr/>
          <p:nvPr/>
        </p:nvSpPr>
        <p:spPr>
          <a:xfrm>
            <a:off x="109728" y="5888736"/>
            <a:ext cx="4572000" cy="1207008"/>
          </a:xfrm>
          <a:prstGeom prst="roundRect">
            <a:avLst>
              <a:gd name="adj" fmla="val 3030"/>
            </a:avLst>
          </a:prstGeom>
          <a:solidFill>
            <a:srgbClr val="F4F7FA"/>
          </a:solidFill>
          <a:ln w="12700">
            <a:solidFill>
              <a:srgbClr val="B9C4C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3"/>
          <p:cNvSpPr/>
          <p:nvPr/>
        </p:nvSpPr>
        <p:spPr>
          <a:xfrm>
            <a:off x="219456" y="5943600"/>
            <a:ext cx="4352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1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LÉGENDE DES 8 MUDAS</a:t>
            </a:r>
            <a:endParaRPr lang="en-US" sz="1000" dirty="0"/>
          </a:p>
        </p:txBody>
      </p:sp>
      <p:pic>
        <p:nvPicPr>
          <p:cNvPr id="19" name="Image 2" descr="assets/surprodu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" y="6208776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57200" y="6163056"/>
            <a:ext cx="813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30" b="1" dirty="0">
                <a:solidFill>
                  <a:srgbClr val="171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SURPRODUCTION</a:t>
            </a:r>
            <a:endParaRPr lang="en-US" sz="63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Produire plus / trop tôt</a:t>
            </a:r>
            <a:endParaRPr lang="en-US" sz="630" dirty="0"/>
          </a:p>
        </p:txBody>
      </p:sp>
      <p:pic>
        <p:nvPicPr>
          <p:cNvPr id="21" name="Image 3" descr="assets/attent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7592" y="6208776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545336" y="6163056"/>
            <a:ext cx="813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30" b="1" dirty="0">
                <a:solidFill>
                  <a:srgbClr val="171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ATTENTES</a:t>
            </a:r>
            <a:endParaRPr lang="en-US" sz="63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d'attente, retards</a:t>
            </a:r>
            <a:endParaRPr lang="en-US" sz="630" dirty="0"/>
          </a:p>
        </p:txBody>
      </p:sp>
      <p:pic>
        <p:nvPicPr>
          <p:cNvPr id="23" name="Image 4" descr="assets/transpor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5728" y="6208776"/>
            <a:ext cx="201168" cy="20116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2633472" y="6163056"/>
            <a:ext cx="813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30" b="1" dirty="0">
                <a:solidFill>
                  <a:srgbClr val="171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TRANSPORTS</a:t>
            </a:r>
            <a:endParaRPr lang="en-US" sz="63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Déplacements inutiles, manutentions</a:t>
            </a:r>
            <a:endParaRPr lang="en-US" sz="630" dirty="0"/>
          </a:p>
        </p:txBody>
      </p:sp>
      <p:pic>
        <p:nvPicPr>
          <p:cNvPr id="25" name="Image 5" descr="assets/surstock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6208776"/>
            <a:ext cx="201168" cy="20116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3721608" y="6163056"/>
            <a:ext cx="813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30" b="1" dirty="0">
                <a:solidFill>
                  <a:srgbClr val="171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SUR-STOCKS</a:t>
            </a:r>
            <a:endParaRPr lang="en-US" sz="63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excessifs, en-cours</a:t>
            </a:r>
            <a:endParaRPr lang="en-US" sz="630" dirty="0"/>
          </a:p>
        </p:txBody>
      </p:sp>
      <p:pic>
        <p:nvPicPr>
          <p:cNvPr id="27" name="Image 6" descr="assets/deplacement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456" y="6656832"/>
            <a:ext cx="201168" cy="20116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457200" y="6611112"/>
            <a:ext cx="813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30" b="1" dirty="0">
                <a:solidFill>
                  <a:srgbClr val="171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DÉPLACEMENTS</a:t>
            </a:r>
            <a:endParaRPr lang="en-US" sz="63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Mouvements inutiles des personnes</a:t>
            </a:r>
            <a:endParaRPr lang="en-US" sz="630" dirty="0"/>
          </a:p>
        </p:txBody>
      </p:sp>
      <p:pic>
        <p:nvPicPr>
          <p:cNvPr id="29" name="Image 7" descr="assets/surtraitement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7592" y="6656832"/>
            <a:ext cx="201168" cy="20116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1545336" y="6611112"/>
            <a:ext cx="813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30" b="1" dirty="0">
                <a:solidFill>
                  <a:srgbClr val="171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SUR-TRAITEMENTS</a:t>
            </a:r>
            <a:endParaRPr lang="en-US" sz="63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ou contrôles inutiles</a:t>
            </a:r>
            <a:endParaRPr lang="en-US" sz="630" dirty="0"/>
          </a:p>
        </p:txBody>
      </p:sp>
      <p:pic>
        <p:nvPicPr>
          <p:cNvPr id="31" name="Image 8" descr="assets/defaut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95728" y="6656832"/>
            <a:ext cx="201168" cy="201168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2633472" y="6611112"/>
            <a:ext cx="813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30" b="1" dirty="0">
                <a:solidFill>
                  <a:srgbClr val="171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DÉFAUTS</a:t>
            </a:r>
            <a:endParaRPr lang="en-US" sz="63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Erreurs, rebuts, retouches</a:t>
            </a:r>
            <a:endParaRPr lang="en-US" sz="630" dirty="0"/>
          </a:p>
        </p:txBody>
      </p:sp>
      <p:pic>
        <p:nvPicPr>
          <p:cNvPr id="33" name="Image 9" descr="assets/competence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6656832"/>
            <a:ext cx="201168" cy="201168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3721608" y="6611112"/>
            <a:ext cx="8138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630" b="1" dirty="0">
                <a:solidFill>
                  <a:srgbClr val="171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NON-UTILISATION</a:t>
            </a:r>
            <a:endParaRPr lang="en-US" sz="63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30" b="1" dirty="0">
                <a:solidFill>
                  <a:srgbClr val="171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COMPÉTENCES</a:t>
            </a:r>
            <a:endParaRPr lang="en-US" sz="63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Idées, talents non exploités</a:t>
            </a:r>
            <a:endParaRPr lang="en-US" sz="630" dirty="0"/>
          </a:p>
        </p:txBody>
      </p:sp>
      <p:sp>
        <p:nvSpPr>
          <p:cNvPr id="35" name="Shape 22"/>
          <p:cNvSpPr/>
          <p:nvPr/>
        </p:nvSpPr>
        <p:spPr>
          <a:xfrm>
            <a:off x="4791456" y="5888736"/>
            <a:ext cx="2788920" cy="1207008"/>
          </a:xfrm>
          <a:prstGeom prst="roundRect">
            <a:avLst>
              <a:gd name="adj" fmla="val 3030"/>
            </a:avLst>
          </a:prstGeom>
          <a:solidFill>
            <a:srgbClr val="EAF1F8"/>
          </a:solidFill>
          <a:ln w="12700">
            <a:solidFill>
              <a:srgbClr val="B9C4C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23"/>
          <p:cNvSpPr/>
          <p:nvPr/>
        </p:nvSpPr>
        <p:spPr>
          <a:xfrm>
            <a:off x="4901184" y="5943600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1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000" dirty="0"/>
          </a:p>
        </p:txBody>
      </p:sp>
      <p:sp>
        <p:nvSpPr>
          <p:cNvPr id="37" name="Shape 24"/>
          <p:cNvSpPr/>
          <p:nvPr/>
        </p:nvSpPr>
        <p:spPr>
          <a:xfrm>
            <a:off x="4901184" y="6208776"/>
            <a:ext cx="173736" cy="173736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25"/>
          <p:cNvSpPr/>
          <p:nvPr/>
        </p:nvSpPr>
        <p:spPr>
          <a:xfrm>
            <a:off x="4901184" y="6208776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39" name="Text 26"/>
          <p:cNvSpPr/>
          <p:nvPr/>
        </p:nvSpPr>
        <p:spPr>
          <a:xfrm>
            <a:off x="5138928" y="618134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gaspillage identifié, mettre une pastille sur le plan et la numéroter.</a:t>
            </a:r>
            <a:endParaRPr lang="en-US" sz="760" dirty="0"/>
          </a:p>
        </p:txBody>
      </p:sp>
      <p:sp>
        <p:nvSpPr>
          <p:cNvPr id="40" name="Shape 27"/>
          <p:cNvSpPr/>
          <p:nvPr/>
        </p:nvSpPr>
        <p:spPr>
          <a:xfrm>
            <a:off x="4901184" y="6515100"/>
            <a:ext cx="173736" cy="173736"/>
          </a:xfrm>
          <a:prstGeom prst="ellipse">
            <a:avLst/>
          </a:prstGeom>
          <a:solidFill>
            <a:srgbClr val="3E8E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28"/>
          <p:cNvSpPr/>
          <p:nvPr/>
        </p:nvSpPr>
        <p:spPr>
          <a:xfrm>
            <a:off x="4901184" y="6515100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42" name="Text 29"/>
          <p:cNvSpPr/>
          <p:nvPr/>
        </p:nvSpPr>
        <p:spPr>
          <a:xfrm>
            <a:off x="5138928" y="64876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 le numéro dans le tableau et décrire le problème.</a:t>
            </a:r>
            <a:endParaRPr lang="en-US" sz="760" dirty="0"/>
          </a:p>
        </p:txBody>
      </p:sp>
      <p:sp>
        <p:nvSpPr>
          <p:cNvPr id="43" name="Shape 30"/>
          <p:cNvSpPr/>
          <p:nvPr/>
        </p:nvSpPr>
        <p:spPr>
          <a:xfrm>
            <a:off x="4901184" y="6821424"/>
            <a:ext cx="173736" cy="173736"/>
          </a:xfrm>
          <a:prstGeom prst="ellipse">
            <a:avLst/>
          </a:prstGeom>
          <a:solidFill>
            <a:srgbClr val="E38B2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31"/>
          <p:cNvSpPr/>
          <p:nvPr/>
        </p:nvSpPr>
        <p:spPr>
          <a:xfrm>
            <a:off x="4901184" y="6821424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45" name="Text 32"/>
          <p:cNvSpPr/>
          <p:nvPr/>
        </p:nvSpPr>
        <p:spPr>
          <a:xfrm>
            <a:off x="5138928" y="67939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Prendre une photo si nécessaire et noter la référence.</a:t>
            </a:r>
            <a:endParaRPr lang="en-US" sz="760" dirty="0"/>
          </a:p>
        </p:txBody>
      </p:sp>
      <p:sp>
        <p:nvSpPr>
          <p:cNvPr id="46" name="Shape 33"/>
          <p:cNvSpPr/>
          <p:nvPr/>
        </p:nvSpPr>
        <p:spPr>
          <a:xfrm>
            <a:off x="7690104" y="5888736"/>
            <a:ext cx="3172968" cy="1207008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B9C4C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34"/>
          <p:cNvSpPr/>
          <p:nvPr/>
        </p:nvSpPr>
        <p:spPr>
          <a:xfrm>
            <a:off x="7799832" y="5943600"/>
            <a:ext cx="2953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1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/ REMARQUES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7799832" y="6272784"/>
            <a:ext cx="2953512" cy="0"/>
          </a:xfrm>
          <a:prstGeom prst="line">
            <a:avLst/>
          </a:prstGeom>
          <a:noFill/>
          <a:ln w="9525">
            <a:solidFill>
              <a:srgbClr val="C7D2DB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49" name="Shape 36"/>
          <p:cNvSpPr/>
          <p:nvPr/>
        </p:nvSpPr>
        <p:spPr>
          <a:xfrm>
            <a:off x="7799832" y="6473952"/>
            <a:ext cx="2953512" cy="0"/>
          </a:xfrm>
          <a:prstGeom prst="line">
            <a:avLst/>
          </a:prstGeom>
          <a:noFill/>
          <a:ln w="9525">
            <a:solidFill>
              <a:srgbClr val="C7D2DB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50" name="Shape 37"/>
          <p:cNvSpPr/>
          <p:nvPr/>
        </p:nvSpPr>
        <p:spPr>
          <a:xfrm>
            <a:off x="7799832" y="6675120"/>
            <a:ext cx="2953512" cy="0"/>
          </a:xfrm>
          <a:prstGeom prst="line">
            <a:avLst/>
          </a:prstGeom>
          <a:noFill/>
          <a:ln w="9525">
            <a:solidFill>
              <a:srgbClr val="C7D2DB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51" name="Shape 38"/>
          <p:cNvSpPr/>
          <p:nvPr/>
        </p:nvSpPr>
        <p:spPr>
          <a:xfrm>
            <a:off x="7799832" y="6876288"/>
            <a:ext cx="2953512" cy="0"/>
          </a:xfrm>
          <a:prstGeom prst="line">
            <a:avLst/>
          </a:prstGeom>
          <a:noFill/>
          <a:ln w="9525">
            <a:solidFill>
              <a:srgbClr val="C7D2DB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52" name="Shape 39"/>
          <p:cNvSpPr/>
          <p:nvPr/>
        </p:nvSpPr>
        <p:spPr>
          <a:xfrm>
            <a:off x="109728" y="7095744"/>
            <a:ext cx="10753344" cy="201167"/>
          </a:xfrm>
          <a:prstGeom prst="rect">
            <a:avLst/>
          </a:prstGeom>
          <a:solidFill>
            <a:srgbClr val="171D8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3" name="Image 10" descr="assets/footer_bul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9456" y="7146036"/>
            <a:ext cx="173736" cy="173736"/>
          </a:xfrm>
          <a:prstGeom prst="rect">
            <a:avLst/>
          </a:prstGeom>
        </p:spPr>
      </p:pic>
      <p:sp>
        <p:nvSpPr>
          <p:cNvPr id="54" name="Text 40"/>
          <p:cNvSpPr/>
          <p:nvPr/>
        </p:nvSpPr>
        <p:spPr>
          <a:xfrm>
            <a:off x="457200" y="70957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objectif : voir les gaspillages pour agir et créer de la valeur !</a:t>
            </a:r>
            <a:endParaRPr lang="en-US" sz="1050" dirty="0"/>
          </a:p>
        </p:txBody>
      </p:sp>
      <p:sp>
        <p:nvSpPr>
          <p:cNvPr id="55" name="Text 41"/>
          <p:cNvSpPr/>
          <p:nvPr/>
        </p:nvSpPr>
        <p:spPr>
          <a:xfrm>
            <a:off x="8686800" y="7095744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: ___ / ___</a:t>
            </a:r>
            <a:endParaRPr lang="en-US" sz="1000" dirty="0"/>
          </a:p>
        </p:txBody>
      </p:sp>
      <p:sp>
        <p:nvSpPr>
          <p:cNvPr id="57" name="Shape 172">
            <a:extLst>
              <a:ext uri="{FF2B5EF4-FFF2-40B4-BE49-F238E27FC236}">
                <a16:creationId xmlns:a16="http://schemas.microsoft.com/office/drawing/2014/main" id="{D8AFD50A-D29F-3FF9-1D61-6B8A4B5D16D0}"/>
              </a:ext>
            </a:extLst>
          </p:cNvPr>
          <p:cNvSpPr/>
          <p:nvPr/>
        </p:nvSpPr>
        <p:spPr>
          <a:xfrm>
            <a:off x="109728" y="109729"/>
            <a:ext cx="10753344" cy="7187182"/>
          </a:xfrm>
          <a:prstGeom prst="rect">
            <a:avLst/>
          </a:prstGeom>
          <a:ln w="15240">
            <a:solidFill>
              <a:srgbClr val="2E319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8D502F30-F847-B2CD-7E5F-360FDFF8D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89344" y="126378"/>
            <a:ext cx="1422854" cy="8007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199</Words>
  <Application>Microsoft Office PowerPoint</Application>
  <PresentationFormat>Personnalisé</PresentationFormat>
  <Paragraphs>59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Chasse aux Mudas</dc:title>
  <dc:subject>PptxGenJS Presentation</dc:subject>
  <dc:creator>LTR Industries</dc:creator>
  <cp:lastModifiedBy>Anthony Ricordeau</cp:lastModifiedBy>
  <cp:revision>2</cp:revision>
  <dcterms:created xsi:type="dcterms:W3CDTF">2026-07-06T06:57:45Z</dcterms:created>
  <dcterms:modified xsi:type="dcterms:W3CDTF">2026-07-21T09:32:08Z</dcterms:modified>
</cp:coreProperties>
</file>